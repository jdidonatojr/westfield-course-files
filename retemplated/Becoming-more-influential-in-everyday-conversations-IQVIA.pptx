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hyperlink" Target="https://tracom.com/social-style-train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6" sz="quarter"/>
          </p:nvPr>
        </p:nvPicPr>
        <p:blipFill>
          <a:blip r:embed="rId2"/>
          <a:srcRect l="355" r="355"/>
          <a:stretch>
            <a:fillRect/>
          </a:stretch>
        </p:blipFill>
        <p:spPr/>
      </p:pic>
      <p:sp>
        <p:nvSpPr>
          <p:cNvPr id="3" name="Text Placeholder 2"/>
          <p:cNvSpPr>
            <a:spLocks noGrp="1"/>
          </p:cNvSpPr>
          <p:nvPr>
            <p:ph type="body" idx="11" sz="quarter"/>
          </p:nvPr>
        </p:nvSpPr>
        <p:spPr/>
        <p:txBody>
          <a:bodyPr/>
          <a:lstStyle/>
          <a:p>
            <a:r>
              <a:t>Make your message easier to consider. Reach a clear next step while respecting their choice. Use these skills at work, at home, in your community, and with customers.</a:t>
            </a:r>
          </a:p>
        </p:txBody>
      </p:sp>
      <p:sp>
        <p:nvSpPr>
          <p:cNvPr id="4" name="Title 3"/>
          <p:cNvSpPr>
            <a:spLocks noGrp="1"/>
          </p:cNvSpPr>
          <p:nvPr>
            <p:ph type="ctrTitle"/>
          </p:nvPr>
        </p:nvSpPr>
        <p:spPr/>
        <p:txBody>
          <a:bodyPr/>
          <a:lstStyle/>
          <a:p>
            <a:r>
              <a:t>Becoming more influential in everyday conversations</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One request can start four different conversations</a:t>
            </a:r>
          </a:p>
          <a:p>
            <a:r>
              <a:rPr sz="1400" b="0"/>
              <a:t>You suggest changing the location of a family gathering. "Can we choose today so I can book it?" "What will it cost, and what is included?" "Could we turn it into a weekend together?" "Will the new location work for everyone?" Each response gives you something useful to explore.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Notice the priority someone expresses.</a:t>
            </a:r>
          </a:p>
          <a:p>
            <a:pPr>
              <a:spcAft>
                <a:spcPts val="1400"/>
              </a:spcAft>
            </a:pPr>
            <a:r>
              <a:rPr sz="2000"/>
              <a:t>Check your understanding before assuming.</a:t>
            </a:r>
          </a:p>
          <a:p>
            <a:pPr>
              <a:spcAft>
                <a:spcPts val="1400"/>
              </a:spcAft>
            </a:pPr>
            <a:r>
              <a:rPr sz="2000"/>
              <a:t>Adapt your explanation without changing the facts.</a:t>
            </a:r>
          </a:p>
          <a:p>
            <a:pPr>
              <a:spcAft>
                <a:spcPts val="1400"/>
              </a:spcAft>
            </a:pPr>
            <a:r>
              <a:rPr sz="2000"/>
              <a:t>Respond to more than one priority.</a:t>
            </a:r>
          </a:p>
          <a:p>
            <a:pPr>
              <a:spcAft>
                <a:spcPts val="1400"/>
              </a:spcAft>
            </a:pPr>
            <a:r>
              <a:rPr sz="2000"/>
              <a:t>Handle disagreement and agree on a next step.</a:t>
            </a:r>
          </a:p>
          <a:p>
            <a:pPr>
              <a:spcAft>
                <a:spcPts val="1400"/>
              </a:spcAft>
            </a:pPr>
            <a:r>
              <a:rPr sz="2000"/>
              <a:t>Success includes an informed, respectful "no."</a:t>
            </a:r>
          </a:p>
        </p:txBody>
      </p:sp>
      <p:sp>
        <p:nvSpPr>
          <p:cNvPr id="3" name="Title 2"/>
          <p:cNvSpPr>
            <a:spLocks noGrp="1"/>
          </p:cNvSpPr>
          <p:nvPr>
            <p:ph type="title"/>
          </p:nvPr>
        </p:nvSpPr>
        <p:spPr/>
        <p:txBody>
          <a:bodyPr/>
          <a:lstStyle/>
          <a:p>
            <a:r>
              <a:t>What you will practice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Possibility-Focused Style</a:t>
            </a:r>
          </a:p>
          <a:p>
            <a:pPr>
              <a:spcAft>
                <a:spcPts val="1400"/>
              </a:spcAft>
            </a:pPr>
            <a:r>
              <a:rPr sz="1400" b="0"/>
              <a:t>"What else could we try?"</a:t>
            </a:r>
          </a:p>
          <a:p>
            <a:pPr>
              <a:spcAft>
                <a:spcPts val="200"/>
              </a:spcAft>
            </a:pPr>
            <a:r>
              <a:rPr sz="1600" b="1"/>
              <a:t>Connection-Focused Style</a:t>
            </a:r>
          </a:p>
          <a:p>
            <a:pPr>
              <a:spcAft>
                <a:spcPts val="1400"/>
              </a:spcAft>
            </a:pPr>
            <a:r>
              <a:rPr sz="1400" b="0"/>
              <a:t>"How will this affect the people involved?"</a:t>
            </a:r>
          </a:p>
        </p:txBody>
      </p:sp>
      <p:sp>
        <p:nvSpPr>
          <p:cNvPr id="3" name="Content Placeholder 2"/>
          <p:cNvSpPr>
            <a:spLocks noGrp="1"/>
          </p:cNvSpPr>
          <p:nvPr>
            <p:ph idx="18"/>
          </p:nvPr>
        </p:nvSpPr>
        <p:spPr/>
        <p:txBody>
          <a:bodyPr/>
          <a:lstStyle/>
          <a:p>
            <a:pPr>
              <a:spcAft>
                <a:spcPts val="200"/>
              </a:spcAft>
            </a:pPr>
            <a:r>
              <a:rPr sz="1600" b="1"/>
              <a:t>Decisive Style</a:t>
            </a:r>
          </a:p>
          <a:p>
            <a:pPr>
              <a:spcAft>
                <a:spcPts val="1400"/>
              </a:spcAft>
            </a:pPr>
            <a:r>
              <a:rPr sz="1400" b="0"/>
              <a:t>"What can we decide and move forward?"</a:t>
            </a:r>
          </a:p>
          <a:p>
            <a:pPr>
              <a:spcAft>
                <a:spcPts val="200"/>
              </a:spcAft>
            </a:pPr>
            <a:r>
              <a:rPr sz="1600" b="1"/>
              <a:t>Evidence-Focused Style</a:t>
            </a:r>
          </a:p>
          <a:p>
            <a:pPr>
              <a:spcAft>
                <a:spcPts val="1400"/>
              </a:spcAft>
            </a:pPr>
            <a:r>
              <a:rPr sz="1400" b="0"/>
              <a:t>"What information supports this?"</a:t>
            </a:r>
          </a:p>
        </p:txBody>
      </p:sp>
      <p:sp>
        <p:nvSpPr>
          <p:cNvPr id="4" name="Text Placeholder 3"/>
          <p:cNvSpPr>
            <a:spLocks noGrp="1"/>
          </p:cNvSpPr>
          <p:nvPr>
            <p:ph type="body" idx="16" sz="quarter"/>
          </p:nvPr>
        </p:nvSpPr>
        <p:spPr/>
        <p:txBody>
          <a:bodyPr/>
          <a:lstStyle/>
          <a:p>
            <a:r>
              <a:rPr sz="1400"/>
              <a:t>People can use all four. These are conversation guides, not personality test results.</a:t>
            </a:r>
          </a:p>
        </p:txBody>
      </p:sp>
      <p:sp>
        <p:nvSpPr>
          <p:cNvPr id="5" name="Title 4"/>
          <p:cNvSpPr>
            <a:spLocks noGrp="1"/>
          </p:cNvSpPr>
          <p:nvPr>
            <p:ph type="title"/>
          </p:nvPr>
        </p:nvSpPr>
        <p:spPr/>
        <p:txBody>
          <a:bodyPr/>
          <a:lstStyle/>
          <a:p>
            <a:r>
              <a:t>The four communication styles</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Possible cues</a:t>
            </a:r>
          </a:p>
          <a:p>
            <a:pPr>
              <a:spcAft>
                <a:spcPts val="1600"/>
              </a:spcAft>
            </a:pPr>
            <a:r>
              <a:rPr sz="1400" b="0"/>
              <a:t>asks for a recommendation, deadline, or next step.</a:t>
            </a:r>
          </a:p>
          <a:p>
            <a:pPr>
              <a:spcAft>
                <a:spcPts val="200"/>
              </a:spcAft>
            </a:pPr>
            <a:r>
              <a:rPr sz="2000" b="1"/>
              <a:t>Helpful response</a:t>
            </a:r>
          </a:p>
          <a:p>
            <a:pPr>
              <a:spcAft>
                <a:spcPts val="1600"/>
              </a:spcAft>
            </a:pPr>
            <a:r>
              <a:rPr sz="1400" b="0"/>
              <a:t>state the decision, options, and practical consequences.</a:t>
            </a:r>
          </a:p>
        </p:txBody>
      </p:sp>
      <p:sp>
        <p:nvSpPr>
          <p:cNvPr id="3" name="Text Placeholder 2"/>
          <p:cNvSpPr>
            <a:spLocks noGrp="1"/>
          </p:cNvSpPr>
          <p:nvPr>
            <p:ph type="body" idx="15" sz="quarter"/>
          </p:nvPr>
        </p:nvSpPr>
        <p:spPr/>
        <p:txBody>
          <a:bodyPr/>
          <a:lstStyle/>
          <a:p>
            <a:r>
              <a:t>Keep important risks visible even when time is short. Example: "I recommend Saturday. It fits our budget. The deposit is nonrefundable. Shall we decide after everyone replies tonight?" Check: "Which decision would be most useful to settle now?"</a:t>
            </a:r>
          </a:p>
        </p:txBody>
      </p:sp>
      <p:sp>
        <p:nvSpPr>
          <p:cNvPr id="5" name="Title 4"/>
          <p:cNvSpPr>
            <a:spLocks noGrp="1"/>
          </p:cNvSpPr>
          <p:nvPr>
            <p:ph type="title"/>
          </p:nvPr>
        </p:nvSpPr>
        <p:spPr/>
        <p:txBody>
          <a:bodyPr/>
          <a:lstStyle/>
          <a:p>
            <a:r>
              <a:t>Decisive style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Possible cues</a:t>
            </a:r>
          </a:p>
          <a:p>
            <a:pPr>
              <a:spcAft>
                <a:spcPts val="1600"/>
              </a:spcAft>
            </a:pPr>
            <a:r>
              <a:rPr sz="1400" b="0"/>
              <a:t>asks about sources, costs, comparisons, or how something works.</a:t>
            </a:r>
          </a:p>
          <a:p>
            <a:pPr>
              <a:spcAft>
                <a:spcPts val="200"/>
              </a:spcAft>
            </a:pPr>
            <a:r>
              <a:rPr sz="2000" b="1"/>
              <a:t>Helpful response</a:t>
            </a:r>
          </a:p>
          <a:p>
            <a:pPr>
              <a:spcAft>
                <a:spcPts val="1600"/>
              </a:spcAft>
            </a:pPr>
            <a:r>
              <a:rPr sz="1400" b="0"/>
              <a:t>explain your reasoning and separate facts from estimates.</a:t>
            </a:r>
          </a:p>
        </p:txBody>
      </p:sp>
      <p:sp>
        <p:nvSpPr>
          <p:cNvPr id="3" name="Text Placeholder 2"/>
          <p:cNvSpPr>
            <a:spLocks noGrp="1"/>
          </p:cNvSpPr>
          <p:nvPr>
            <p:ph type="body" idx="15" sz="quarter"/>
          </p:nvPr>
        </p:nvSpPr>
        <p:spPr/>
        <p:txBody>
          <a:bodyPr/>
          <a:lstStyle/>
          <a:p>
            <a:r>
              <a:t>Offer time to review what matters. Example: "Here are the two quotes and what each includes. We still need to confirm parking charges." Check: "What information would help you evaluate this?"</a:t>
            </a:r>
          </a:p>
        </p:txBody>
      </p:sp>
      <p:sp>
        <p:nvSpPr>
          <p:cNvPr id="5" name="Title 4"/>
          <p:cNvSpPr>
            <a:spLocks noGrp="1"/>
          </p:cNvSpPr>
          <p:nvPr>
            <p:ph type="title"/>
          </p:nvPr>
        </p:nvSpPr>
        <p:spPr/>
        <p:txBody>
          <a:bodyPr/>
          <a:lstStyle/>
          <a:p>
            <a:r>
              <a:t>Evidence-focused style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Possible cues</a:t>
            </a:r>
          </a:p>
          <a:p>
            <a:pPr>
              <a:spcAft>
                <a:spcPts val="1600"/>
              </a:spcAft>
            </a:pPr>
            <a:r>
              <a:rPr sz="1400" b="0"/>
              <a:t>suggests alternatives, explores benefits, or builds on an idea.</a:t>
            </a:r>
          </a:p>
          <a:p>
            <a:pPr>
              <a:spcAft>
                <a:spcPts val="200"/>
              </a:spcAft>
            </a:pPr>
            <a:r>
              <a:rPr sz="2000" b="1"/>
              <a:t>Helpful response</a:t>
            </a:r>
          </a:p>
          <a:p>
            <a:pPr>
              <a:spcAft>
                <a:spcPts val="1600"/>
              </a:spcAft>
            </a:pPr>
            <a:r>
              <a:rPr sz="1400" b="0"/>
              <a:t>make room for exploration, then discuss what can be tried.</a:t>
            </a:r>
          </a:p>
        </p:txBody>
      </p:sp>
      <p:sp>
        <p:nvSpPr>
          <p:cNvPr id="3" name="Text Placeholder 2"/>
          <p:cNvSpPr>
            <a:spLocks noGrp="1"/>
          </p:cNvSpPr>
          <p:nvPr>
            <p:ph type="body" idx="15" sz="quarter"/>
          </p:nvPr>
        </p:nvSpPr>
        <p:spPr/>
        <p:txBody>
          <a:bodyPr/>
          <a:lstStyle/>
          <a:p>
            <a:r>
              <a:t>Agree on how to narrow the options. Example: "A weekend could work. What would make it worthwhile? Then we can compare that with a one-day visit." Check: "Which possibility would you like to explore first?"</a:t>
            </a:r>
          </a:p>
        </p:txBody>
      </p:sp>
      <p:sp>
        <p:nvSpPr>
          <p:cNvPr id="5" name="Title 4"/>
          <p:cNvSpPr>
            <a:spLocks noGrp="1"/>
          </p:cNvSpPr>
          <p:nvPr>
            <p:ph type="title"/>
          </p:nvPr>
        </p:nvSpPr>
        <p:spPr/>
        <p:txBody>
          <a:bodyPr/>
          <a:lstStyle/>
          <a:p>
            <a:r>
              <a:t>Possibility-focused style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Possible cues</a:t>
            </a:r>
          </a:p>
          <a:p>
            <a:pPr>
              <a:spcAft>
                <a:spcPts val="1600"/>
              </a:spcAft>
            </a:pPr>
            <a:r>
              <a:rPr sz="1400" b="0"/>
              <a:t>asks who is affected, raises concerns, or seeks others' input.</a:t>
            </a:r>
          </a:p>
          <a:p>
            <a:pPr>
              <a:spcAft>
                <a:spcPts val="200"/>
              </a:spcAft>
            </a:pPr>
            <a:r>
              <a:rPr sz="2000" b="1"/>
              <a:t>Helpful response</a:t>
            </a:r>
          </a:p>
          <a:p>
            <a:pPr>
              <a:spcAft>
                <a:spcPts val="1600"/>
              </a:spcAft>
            </a:pPr>
            <a:r>
              <a:rPr sz="1400" b="0"/>
              <a:t>listen, explain the impact, and invite honest preferences.</a:t>
            </a:r>
          </a:p>
        </p:txBody>
      </p:sp>
      <p:sp>
        <p:nvSpPr>
          <p:cNvPr id="3" name="Text Placeholder 2"/>
          <p:cNvSpPr>
            <a:spLocks noGrp="1"/>
          </p:cNvSpPr>
          <p:nvPr>
            <p:ph type="body" idx="15" sz="quarter"/>
          </p:nvPr>
        </p:nvSpPr>
        <p:spPr/>
        <p:txBody>
          <a:bodyPr/>
          <a:lstStyle/>
          <a:p>
            <a:r>
              <a:t>Check agreement rather than assuming silence means yes. Example: "Let's ask about travel limits before we book. What might make it difficult for you to join?" Check: "Whose needs or concerns have we not considered?"</a:t>
            </a:r>
          </a:p>
        </p:txBody>
      </p:sp>
      <p:sp>
        <p:nvSpPr>
          <p:cNvPr id="5" name="Title 4"/>
          <p:cNvSpPr>
            <a:spLocks noGrp="1"/>
          </p:cNvSpPr>
          <p:nvPr>
            <p:ph type="title"/>
          </p:nvPr>
        </p:nvSpPr>
        <p:spPr/>
        <p:txBody>
          <a:bodyPr/>
          <a:lstStyle/>
          <a:p>
            <a:r>
              <a:t>Connection-focused style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Observation</a:t>
            </a:r>
          </a:p>
          <a:p>
            <a:pPr>
              <a:spcAft>
                <a:spcPts val="1600"/>
              </a:spcAft>
            </a:pPr>
            <a:r>
              <a:rPr sz="1400" b="0"/>
              <a:t>"They asked for the cancellation policy."</a:t>
            </a:r>
          </a:p>
          <a:p>
            <a:pPr>
              <a:spcAft>
                <a:spcPts val="200"/>
              </a:spcAft>
            </a:pPr>
            <a:r>
              <a:rPr sz="2000" b="1"/>
              <a:t>Possible interpretation</a:t>
            </a:r>
          </a:p>
          <a:p>
            <a:pPr>
              <a:spcAft>
                <a:spcPts val="1600"/>
              </a:spcAft>
            </a:pPr>
            <a:r>
              <a:rPr sz="1400" b="0"/>
              <a:t>they need evidence about risk.</a:t>
            </a:r>
          </a:p>
          <a:p>
            <a:pPr>
              <a:spcAft>
                <a:spcPts val="200"/>
              </a:spcAft>
            </a:pPr>
            <a:r>
              <a:rPr sz="2000" b="1"/>
              <a:t>Another explanation</a:t>
            </a:r>
          </a:p>
          <a:p>
            <a:pPr>
              <a:spcAft>
                <a:spcPts val="1600"/>
              </a:spcAft>
            </a:pPr>
            <a:r>
              <a:rPr sz="1400" b="0"/>
              <a:t>a previous booking went wrong.</a:t>
            </a:r>
          </a:p>
          <a:p>
            <a:pPr>
              <a:spcAft>
                <a:spcPts val="200"/>
              </a:spcAft>
            </a:pPr>
            <a:r>
              <a:rPr sz="2000" b="1"/>
              <a:t>Useful question</a:t>
            </a:r>
          </a:p>
          <a:p>
            <a:pPr>
              <a:spcAft>
                <a:spcPts val="1600"/>
              </a:spcAft>
            </a:pPr>
            <a:r>
              <a:rPr sz="1400" b="0"/>
              <a:t>"Is cancellation your main concern, or is there something else?"</a:t>
            </a:r>
          </a:p>
        </p:txBody>
      </p:sp>
      <p:sp>
        <p:nvSpPr>
          <p:cNvPr id="3" name="Text Placeholder 2"/>
          <p:cNvSpPr>
            <a:spLocks noGrp="1"/>
          </p:cNvSpPr>
          <p:nvPr>
            <p:ph type="body" idx="15" sz="quarter"/>
          </p:nvPr>
        </p:nvSpPr>
        <p:spPr/>
        <p:txBody>
          <a:bodyPr/>
          <a:lstStyle/>
          <a:p>
            <a:r>
              <a:t>One sentence, silence, or speaking speed does not establish a person's style.</a:t>
            </a:r>
          </a:p>
          <a:p>
            <a:r>
              <a:t>Practice tool: Conversation Clues</a:t>
            </a:r>
          </a:p>
        </p:txBody>
      </p:sp>
      <p:sp>
        <p:nvSpPr>
          <p:cNvPr id="5" name="Title 4"/>
          <p:cNvSpPr>
            <a:spLocks noGrp="1"/>
          </p:cNvSpPr>
          <p:nvPr>
            <p:ph type="title"/>
          </p:nvPr>
        </p:nvSpPr>
        <p:spPr/>
        <p:txBody>
          <a:bodyPr/>
          <a:lstStyle/>
          <a:p>
            <a:r>
              <a:t>Observation comes before interpretation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own default approach</a:t>
            </a:r>
          </a:p>
          <a:p>
            <a:r>
              <a:rPr sz="1400" b="0"/>
              <a:t>When you want agreement, what do you tend to offer first?
A recommendation? Supporting information? New options? Reassurance and involvement?
What does that contribute?
What might the other person still need?
Practice tool: My Communication Habits
Compare two situations. Look for changes as well as patterns.</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Decisive + Evidence-Focused</a:t>
            </a:r>
          </a:p>
          <a:p>
            <a:pPr>
              <a:spcAft>
                <a:spcPts val="1400"/>
              </a:spcAft>
            </a:pPr>
            <a:r>
              <a:rPr sz="1400" b="0"/>
              <a:t>"Show me enough to decide."</a:t>
            </a:r>
          </a:p>
          <a:p>
            <a:pPr>
              <a:spcAft>
                <a:spcPts val="200"/>
              </a:spcAft>
            </a:pPr>
            <a:r>
              <a:rPr sz="1600" b="1"/>
              <a:t>Decisive + Possibility-Focused</a:t>
            </a:r>
          </a:p>
          <a:p>
            <a:pPr>
              <a:spcAft>
                <a:spcPts val="1400"/>
              </a:spcAft>
            </a:pPr>
            <a:r>
              <a:rPr sz="1400" b="0"/>
              <a:t>"Let's choose something new to try."</a:t>
            </a:r>
          </a:p>
        </p:txBody>
      </p:sp>
      <p:sp>
        <p:nvSpPr>
          <p:cNvPr id="3" name="Content Placeholder 2"/>
          <p:cNvSpPr>
            <a:spLocks noGrp="1"/>
          </p:cNvSpPr>
          <p:nvPr>
            <p:ph idx="20"/>
          </p:nvPr>
        </p:nvSpPr>
        <p:spPr/>
        <p:txBody>
          <a:bodyPr/>
          <a:lstStyle/>
          <a:p>
            <a:pPr>
              <a:spcAft>
                <a:spcPts val="200"/>
              </a:spcAft>
            </a:pPr>
            <a:r>
              <a:rPr sz="1600" b="1"/>
              <a:t>Evidence-Focused + Connection-Focused</a:t>
            </a:r>
          </a:p>
          <a:p>
            <a:pPr>
              <a:spcAft>
                <a:spcPts val="1400"/>
              </a:spcAft>
            </a:pPr>
            <a:r>
              <a:rPr sz="1400" b="0"/>
              <a:t>"What does the feedback tell us?"</a:t>
            </a:r>
          </a:p>
          <a:p>
            <a:pPr>
              <a:spcAft>
                <a:spcPts val="200"/>
              </a:spcAft>
            </a:pPr>
            <a:r>
              <a:rPr sz="1600" b="1"/>
              <a:t>Possibility-Focused + Connection-Focused</a:t>
            </a:r>
          </a:p>
          <a:p>
            <a:pPr>
              <a:spcAft>
                <a:spcPts val="1400"/>
              </a:spcAft>
            </a:pPr>
            <a:r>
              <a:rPr sz="1400" b="0"/>
              <a:t>"What could we create together?"</a:t>
            </a:r>
          </a:p>
        </p:txBody>
      </p:sp>
      <p:sp>
        <p:nvSpPr>
          <p:cNvPr id="4" name="Content Placeholder 3"/>
          <p:cNvSpPr>
            <a:spLocks noGrp="1"/>
          </p:cNvSpPr>
          <p:nvPr>
            <p:ph idx="21"/>
          </p:nvPr>
        </p:nvSpPr>
        <p:spPr/>
        <p:txBody>
          <a:bodyPr/>
          <a:lstStyle/>
          <a:p>
            <a:pPr>
              <a:spcAft>
                <a:spcPts val="200"/>
              </a:spcAft>
            </a:pPr>
            <a:r>
              <a:rPr sz="1600" b="1"/>
              <a:t>Decisive + Connection-Focused</a:t>
            </a:r>
          </a:p>
          <a:p>
            <a:pPr>
              <a:spcAft>
                <a:spcPts val="1400"/>
              </a:spcAft>
            </a:pPr>
            <a:r>
              <a:rPr sz="1400" b="0"/>
              <a:t>"Let's agree on a workable next step."</a:t>
            </a:r>
          </a:p>
          <a:p>
            <a:pPr>
              <a:spcAft>
                <a:spcPts val="200"/>
              </a:spcAft>
            </a:pPr>
            <a:r>
              <a:rPr sz="1600" b="1"/>
              <a:t>Evidence-Focused + Possibility-Focused</a:t>
            </a:r>
          </a:p>
          <a:p>
            <a:pPr>
              <a:spcAft>
                <a:spcPts val="1400"/>
              </a:spcAft>
            </a:pPr>
            <a:r>
              <a:rPr sz="1400" b="0"/>
              <a:t>"How could we test that idea?"</a:t>
            </a:r>
          </a:p>
        </p:txBody>
      </p:sp>
      <p:sp>
        <p:nvSpPr>
          <p:cNvPr id="5" name="Text Placeholder 4"/>
          <p:cNvSpPr>
            <a:spLocks noGrp="1"/>
          </p:cNvSpPr>
          <p:nvPr>
            <p:ph type="body" idx="16" sz="quarter"/>
          </p:nvPr>
        </p:nvSpPr>
        <p:spPr/>
        <p:txBody>
          <a:bodyPr/>
          <a:lstStyle/>
          <a:p>
            <a:r>
              <a:rPr sz="1400"/>
              <a:t>Two priorities may matter at the same time. All pairs are possible. A conversation may involve three or four priorities.</a:t>
            </a:r>
          </a:p>
        </p:txBody>
      </p:sp>
      <p:sp>
        <p:nvSpPr>
          <p:cNvPr id="6" name="Title 5"/>
          <p:cNvSpPr>
            <a:spLocks noGrp="1"/>
          </p:cNvSpPr>
          <p:nvPr>
            <p:ph type="title"/>
          </p:nvPr>
        </p:nvSpPr>
        <p:spPr/>
        <p:txBody>
          <a:bodyPr/>
          <a:lstStyle/>
          <a:p>
            <a:r>
              <a:t>Blended styles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message can address two priorities</a:t>
            </a:r>
          </a:p>
          <a:p>
            <a:r>
              <a:rPr sz="1400" b="0"/>
              <a:t>Coworker: "I need a decision today, but I don't want surprises."
Possible response: "I recommend a one-week trial. The cost is $200. We have not checked compatibility yet. Can we confirm that by noon and decide at two?" Notice the decision, evidence, and uncertainty.
Check what "surprises" means to this person.
Practice tool: Blended Priorities Practice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The other person's answer can change your proposal as well as your wording.</a:t>
            </a:r>
          </a:p>
          <a:p>
            <a:pPr>
              <a:spcAft>
                <a:spcPts val="1400"/>
              </a:spcAft>
            </a:pPr>
            <a:r>
              <a:rPr sz="2000"/>
              <a:t>Ask — "What matters most to you here?"</a:t>
            </a:r>
          </a:p>
          <a:p>
            <a:pPr>
              <a:spcAft>
                <a:spcPts val="1400"/>
              </a:spcAft>
            </a:pPr>
            <a:r>
              <a:rPr sz="2000"/>
              <a:t>Reflect — "So your main concern is…"</a:t>
            </a:r>
          </a:p>
          <a:p>
            <a:pPr>
              <a:spcAft>
                <a:spcPts val="1400"/>
              </a:spcAft>
            </a:pPr>
            <a:r>
              <a:rPr sz="2000"/>
              <a:t>Offer — explain the proposal using what you learned.</a:t>
            </a:r>
          </a:p>
          <a:p>
            <a:pPr>
              <a:spcAft>
                <a:spcPts val="1400"/>
              </a:spcAft>
            </a:pPr>
            <a:r>
              <a:rPr sz="2000"/>
              <a:t>Check — "What have I missed?"</a:t>
            </a:r>
          </a:p>
          <a:p>
            <a:pPr>
              <a:spcAft>
                <a:spcPts val="1400"/>
              </a:spcAft>
            </a:pPr>
            <a:r>
              <a:rPr sz="2000"/>
              <a:t>Agree — decide on an action, further review, or a respectful stop.</a:t>
            </a:r>
          </a:p>
        </p:txBody>
      </p:sp>
      <p:sp>
        <p:nvSpPr>
          <p:cNvPr id="3" name="Title 2"/>
          <p:cNvSpPr>
            <a:spLocks noGrp="1"/>
          </p:cNvSpPr>
          <p:nvPr>
            <p:ph type="title"/>
          </p:nvPr>
        </p:nvSpPr>
        <p:spPr/>
        <p:txBody>
          <a:bodyPr/>
          <a:lstStyle/>
          <a:p>
            <a:r>
              <a:t>A conversation you can adapt</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Possibility emphasis</a:t>
            </a:r>
          </a:p>
          <a:p>
            <a:pPr>
              <a:spcAft>
                <a:spcPts val="1400"/>
              </a:spcAft>
            </a:pPr>
            <a:r>
              <a:rPr sz="1400" b="0"/>
              <a:t>which scheduling problems the trial could address.</a:t>
            </a:r>
          </a:p>
          <a:p>
            <a:pPr>
              <a:spcAft>
                <a:spcPts val="200"/>
              </a:spcAft>
            </a:pPr>
            <a:r>
              <a:rPr sz="1600" b="1"/>
              <a:t>Connection emphasis</a:t>
            </a:r>
          </a:p>
          <a:p>
            <a:pPr>
              <a:spcAft>
                <a:spcPts val="1400"/>
              </a:spcAft>
            </a:pPr>
            <a:r>
              <a:rPr sz="1400" b="0"/>
              <a:t>who will be affected and how they can give feedback.</a:t>
            </a:r>
          </a:p>
        </p:txBody>
      </p:sp>
      <p:sp>
        <p:nvSpPr>
          <p:cNvPr id="3" name="Content Placeholder 2"/>
          <p:cNvSpPr>
            <a:spLocks noGrp="1"/>
          </p:cNvSpPr>
          <p:nvPr>
            <p:ph idx="18"/>
          </p:nvPr>
        </p:nvSpPr>
        <p:spPr/>
        <p:txBody>
          <a:bodyPr/>
          <a:lstStyle/>
          <a:p>
            <a:pPr>
              <a:spcAft>
                <a:spcPts val="200"/>
              </a:spcAft>
            </a:pPr>
            <a:r>
              <a:rPr sz="1600" b="1"/>
              <a:t>Decisive emphasis</a:t>
            </a:r>
          </a:p>
          <a:p>
            <a:pPr>
              <a:spcAft>
                <a:spcPts val="1400"/>
              </a:spcAft>
            </a:pPr>
            <a:r>
              <a:rPr sz="1400" b="0"/>
              <a:t>the decision and trial dates.</a:t>
            </a:r>
          </a:p>
          <a:p>
            <a:pPr>
              <a:spcAft>
                <a:spcPts val="200"/>
              </a:spcAft>
            </a:pPr>
            <a:r>
              <a:rPr sz="1600" b="1"/>
              <a:t>Evidence emphasis</a:t>
            </a:r>
          </a:p>
          <a:p>
            <a:pPr>
              <a:spcAft>
                <a:spcPts val="1400"/>
              </a:spcAft>
            </a:pPr>
            <a:r>
              <a:rPr sz="1400" b="0"/>
              <a:t>what we will compare and what remains unknown.</a:t>
            </a:r>
          </a:p>
        </p:txBody>
      </p:sp>
      <p:sp>
        <p:nvSpPr>
          <p:cNvPr id="4" name="Text Placeholder 3"/>
          <p:cNvSpPr>
            <a:spLocks noGrp="1"/>
          </p:cNvSpPr>
          <p:nvPr>
            <p:ph type="body" idx="16" sz="quarter"/>
          </p:nvPr>
        </p:nvSpPr>
        <p:spPr/>
        <p:txBody>
          <a:bodyPr/>
          <a:lstStyle/>
          <a:p>
            <a:r>
              <a:rPr sz="1400"/>
              <a:t>Proposal: a two-week trial of a new scheduling process.</a:t>
            </a:r>
          </a:p>
          <a:p>
            <a:r>
              <a:rPr sz="1400"/>
              <a:t>Facts: a 20-minute setup, no added fee, and a review afterward. Every version includes the setup effort and the right to raise concerns.</a:t>
            </a:r>
          </a:p>
        </p:txBody>
      </p:sp>
      <p:sp>
        <p:nvSpPr>
          <p:cNvPr id="5" name="Title 4"/>
          <p:cNvSpPr>
            <a:spLocks noGrp="1"/>
          </p:cNvSpPr>
          <p:nvPr>
            <p:ph type="title"/>
          </p:nvPr>
        </p:nvSpPr>
        <p:spPr/>
        <p:txBody>
          <a:bodyPr/>
          <a:lstStyle/>
          <a:p>
            <a:r>
              <a:t>Adapt your message without hiding the tradeoffs</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When the conversation gets difficult</a:t>
            </a:r>
          </a:p>
          <a:p>
            <a:r>
              <a:rPr sz="1400" b="0"/>
              <a:t>Notice what changed without assigning a motive. Ask about the concern. Address the issue before changing your presentation style. "We seem to be stuck on the timing. What would make it workable?" Disagreement may concern the proposal, workload, fairness, or trust.
Better wording cannot fix an unacceptable offer.</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Messages and emails need extra care</a:t>
            </a:r>
          </a:p>
          <a:p>
            <a:r>
              <a:rPr sz="1400" b="0"/>
              <a:t>Identify the request and any stated priorities. Consider more than one interpretation. Ask about missing context. Draft a response that preserves facts, limits, and commitments. Practice tool: Message Response Coach
Use an anonymized sample. Review every draft before sending it.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Choose a conversation: a shared task, a family plan, a community decision, or a customer request.</a:t>
            </a:r>
          </a:p>
          <a:p>
            <a:pPr>
              <a:spcAft>
                <a:spcPts val="1400"/>
              </a:spcAft>
            </a:pPr>
            <a:r>
              <a:rPr sz="2000"/>
              <a:t>Ask the AI to portray realistic concerns without announcing a style.</a:t>
            </a:r>
          </a:p>
          <a:p>
            <a:pPr>
              <a:spcAft>
                <a:spcPts val="1400"/>
              </a:spcAft>
            </a:pPr>
            <a:r>
              <a:rPr sz="2000"/>
              <a:t>Have a short conversation.</a:t>
            </a:r>
          </a:p>
          <a:p>
            <a:pPr>
              <a:spcAft>
                <a:spcPts val="1400"/>
              </a:spcAft>
            </a:pPr>
            <a:r>
              <a:rPr sz="2000"/>
              <a:t>Ask for feedback on your actual words.</a:t>
            </a:r>
          </a:p>
          <a:p>
            <a:pPr>
              <a:spcAft>
                <a:spcPts val="1400"/>
              </a:spcAft>
            </a:pPr>
            <a:r>
              <a:rPr sz="2000"/>
              <a:t>Repeat one part with a different approach.</a:t>
            </a:r>
          </a:p>
          <a:p>
            <a:pPr>
              <a:spcAft>
                <a:spcPts val="1400"/>
              </a:spcAft>
            </a:pPr>
            <a:r>
              <a:rPr sz="2000"/>
              <a:t>The goal is understanding and a workable next step, not winning agreement.</a:t>
            </a:r>
          </a:p>
        </p:txBody>
      </p:sp>
      <p:sp>
        <p:nvSpPr>
          <p:cNvPr id="3" name="Title 2"/>
          <p:cNvSpPr>
            <a:spLocks noGrp="1"/>
          </p:cNvSpPr>
          <p:nvPr>
            <p:ph type="title"/>
          </p:nvPr>
        </p:nvSpPr>
        <p:spPr/>
        <p:txBody>
          <a:bodyPr/>
          <a:lstStyle/>
          <a:p>
            <a:r>
              <a:t>Practice with an AI partner</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Did you ask what mattered?</a:t>
            </a:r>
          </a:p>
          <a:p>
            <a:pPr>
              <a:spcAft>
                <a:spcPts val="1400"/>
              </a:spcAft>
            </a:pPr>
            <a:r>
              <a:rPr sz="2000"/>
              <a:t>Did you check your interpretation?</a:t>
            </a:r>
          </a:p>
          <a:p>
            <a:pPr>
              <a:spcAft>
                <a:spcPts val="1400"/>
              </a:spcAft>
            </a:pPr>
            <a:r>
              <a:rPr sz="2000"/>
              <a:t>Did your explanation address the stated concern?</a:t>
            </a:r>
          </a:p>
          <a:p>
            <a:pPr>
              <a:spcAft>
                <a:spcPts val="1400"/>
              </a:spcAft>
            </a:pPr>
            <a:r>
              <a:rPr sz="2000"/>
              <a:t>Did you keep facts and tradeoffs accurate?</a:t>
            </a:r>
          </a:p>
          <a:p>
            <a:pPr>
              <a:spcAft>
                <a:spcPts val="1400"/>
              </a:spcAft>
            </a:pPr>
            <a:r>
              <a:rPr sz="2000"/>
              <a:t>Did you respect disagreement and clarify the next step?</a:t>
            </a:r>
          </a:p>
          <a:p>
            <a:pPr>
              <a:spcAft>
                <a:spcPts val="1400"/>
              </a:spcAft>
            </a:pPr>
            <a:r>
              <a:rPr sz="2000"/>
              <a:t>Ask your partner to identify one effective sentence and one sentence to revise.</a:t>
            </a:r>
          </a:p>
        </p:txBody>
      </p:sp>
      <p:sp>
        <p:nvSpPr>
          <p:cNvPr id="3" name="Title 2"/>
          <p:cNvSpPr>
            <a:spLocks noGrp="1"/>
          </p:cNvSpPr>
          <p:nvPr>
            <p:ph type="title"/>
          </p:nvPr>
        </p:nvSpPr>
        <p:spPr/>
        <p:txBody>
          <a:bodyPr/>
          <a:lstStyle/>
          <a:p>
            <a:r>
              <a:t>Feedback that helps you improve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Why practice adapting your communication</a:t>
            </a:r>
          </a:p>
          <a:p>
            <a:r>
              <a:rPr sz="1400" b="0"/>
              <a:t>Research on other communication-training programs suggests that learning to adapt how we communicate can help strengthen working relationships.
Our practice asks a practical question:
Did your revised approach make the conversation clearer and address what mattered?
Source example: TRACOM's published findings for its SOCIAL STYLE® training.
Those findings concern that program, not this course. No affiliation or endorsement is implied.
</a:t>
            </a:r>
            <a:r>
              <a:rPr sz="1400" b="0">
                <a:hlinkClick r:id="rId2"/>
              </a:rPr>
              <a:t>https://tracom.com/social-style-training</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Your next conversation</a:t>
            </a:r>
          </a:p>
          <a:p>
            <a:r>
              <a:rPr sz="1400" b="0"/>
              <a:t>Choose one real conversation. Write the outcome you hope for. List what you know and what you still need to ask. Prepare an opening question and a short explanation. Afterward, record what you learned and what you would change. You can use all four styles.
Start with the person's expressed needs and stay willing to adjust.</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