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You can — and by the end of this course, you will. Social Style Selling gives you a live, observable framework to connect with any buyer, any time.</a:t>
            </a:r>
          </a:p>
        </p:txBody>
      </p:sp>
      <p:sp>
        <p:nvSpPr>
          <p:cNvPr id="4" name="Title 3"/>
          <p:cNvSpPr>
            <a:spLocks noGrp="1"/>
          </p:cNvSpPr>
          <p:nvPr>
            <p:ph type="ctrTitle"/>
          </p:nvPr>
        </p:nvSpPr>
        <p:spPr/>
        <p:txBody>
          <a:bodyPr/>
          <a:lstStyle/>
          <a:p>
            <a:r>
              <a:t>What If You Could Read Any Buyer in the First Five Minutes?</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Where This Model Comes From</a:t>
            </a:r>
          </a:p>
          <a:p>
            <a:r>
              <a:rPr sz="1400" b="0"/>
              <a:t>Developed by Reid and Merrill — built on observed behavior, not personality tests or labels. Two axes. Four styles. One skill set that works in every sales conversation. Your instructor is live beside this slide — ask questions anytime.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No style is better or worse</a:t>
            </a:r>
          </a:p>
          <a:p>
            <a:pPr>
              <a:spcAft>
                <a:spcPts val="1400"/>
              </a:spcAft>
            </a:pPr>
            <a:r>
              <a:rPr sz="1400" b="0"/>
              <a:t>All four have real strengths and real blind spots.</a:t>
            </a:r>
          </a:p>
        </p:txBody>
      </p:sp>
      <p:sp>
        <p:nvSpPr>
          <p:cNvPr id="3" name="Content Placeholder 2"/>
          <p:cNvSpPr>
            <a:spLocks noGrp="1"/>
          </p:cNvSpPr>
          <p:nvPr>
            <p:ph idx="20"/>
          </p:nvPr>
        </p:nvSpPr>
        <p:spPr/>
        <p:txBody>
          <a:bodyPr/>
          <a:lstStyle/>
          <a:p>
            <a:pPr>
              <a:spcAft>
                <a:spcPts val="200"/>
              </a:spcAft>
            </a:pPr>
            <a:r>
              <a:rPr sz="1600" b="1"/>
              <a:t>Style describes observable behavior only</a:t>
            </a:r>
          </a:p>
          <a:p>
            <a:pPr>
              <a:spcAft>
                <a:spcPts val="1400"/>
              </a:spcAft>
            </a:pPr>
            <a:r>
              <a:rPr sz="1400" b="0"/>
              <a:t>It does not define the whole person.</a:t>
            </a:r>
          </a:p>
        </p:txBody>
      </p:sp>
      <p:sp>
        <p:nvSpPr>
          <p:cNvPr id="4" name="Content Placeholder 3"/>
          <p:cNvSpPr>
            <a:spLocks noGrp="1"/>
          </p:cNvSpPr>
          <p:nvPr>
            <p:ph idx="21"/>
          </p:nvPr>
        </p:nvSpPr>
        <p:spPr/>
        <p:txBody>
          <a:bodyPr/>
          <a:lstStyle/>
          <a:p>
            <a:pPr>
              <a:spcAft>
                <a:spcPts val="200"/>
              </a:spcAft>
            </a:pPr>
            <a:r>
              <a:rPr sz="1600" b="1"/>
              <a:t>No one is a pure style</a:t>
            </a:r>
          </a:p>
          <a:p>
            <a:pPr>
              <a:spcAft>
                <a:spcPts val="1400"/>
              </a:spcAft>
            </a:pPr>
            <a:r>
              <a:rPr sz="1400" b="0"/>
              <a:t>An adjacent style shapes and softens how the primary style shows up.</a:t>
            </a:r>
          </a:p>
        </p:txBody>
      </p:sp>
      <p:sp>
        <p:nvSpPr>
          <p:cNvPr id="6" name="Title 5"/>
          <p:cNvSpPr>
            <a:spLocks noGrp="1"/>
          </p:cNvSpPr>
          <p:nvPr>
            <p:ph type="title"/>
          </p:nvPr>
        </p:nvSpPr>
        <p:spPr/>
        <p:txBody>
          <a:bodyPr/>
          <a:lstStyle/>
          <a:p>
            <a:r>
              <a:t>Three Ground Rules Before We Start</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Y Axis — Task vs. People</a:t>
            </a:r>
          </a:p>
          <a:p>
            <a:pPr>
              <a:spcAft>
                <a:spcPts val="1400"/>
              </a:spcAft>
            </a:pPr>
            <a:r>
              <a:rPr sz="1400" b="0"/>
              <a:t>What drives their behavior?</a:t>
            </a:r>
          </a:p>
        </p:txBody>
      </p:sp>
      <p:sp>
        <p:nvSpPr>
          <p:cNvPr id="3" name="Content Placeholder 2"/>
          <p:cNvSpPr>
            <a:spLocks noGrp="1"/>
          </p:cNvSpPr>
          <p:nvPr>
            <p:ph idx="18"/>
          </p:nvPr>
        </p:nvSpPr>
        <p:spPr/>
        <p:txBody>
          <a:bodyPr/>
          <a:lstStyle/>
          <a:p>
            <a:pPr>
              <a:spcAft>
                <a:spcPts val="200"/>
              </a:spcAft>
            </a:pPr>
            <a:r>
              <a:rPr sz="1600" b="1"/>
              <a:t>X Axis — Ask vs. Tell</a:t>
            </a:r>
          </a:p>
          <a:p>
            <a:pPr>
              <a:spcAft>
                <a:spcPts val="1400"/>
              </a:spcAft>
            </a:pPr>
            <a:r>
              <a:rPr sz="1400" b="0"/>
              <a:t>How does this person get what they want?</a:t>
            </a:r>
          </a:p>
        </p:txBody>
      </p:sp>
      <p:sp>
        <p:nvSpPr>
          <p:cNvPr id="4" name="Text Placeholder 3"/>
          <p:cNvSpPr>
            <a:spLocks noGrp="1"/>
          </p:cNvSpPr>
          <p:nvPr>
            <p:ph type="body" idx="16" sz="quarter"/>
          </p:nvPr>
        </p:nvSpPr>
        <p:spPr/>
        <p:txBody>
          <a:bodyPr/>
          <a:lstStyle/>
          <a:p>
            <a:r>
              <a:rPr sz="1400"/>
              <a:t>Every style lives at the intersection of those two answers.</a:t>
            </a:r>
          </a:p>
        </p:txBody>
      </p:sp>
      <p:sp>
        <p:nvSpPr>
          <p:cNvPr id="5" name="Title 4"/>
          <p:cNvSpPr>
            <a:spLocks noGrp="1"/>
          </p:cNvSpPr>
          <p:nvPr>
            <p:ph type="title"/>
          </p:nvPr>
        </p:nvSpPr>
        <p:spPr/>
        <p:txBody>
          <a:bodyPr/>
          <a:lstStyle/>
          <a:p>
            <a:r>
              <a:t>The Two-Axis Framework</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Amiable</a:t>
            </a:r>
          </a:p>
          <a:p>
            <a:pPr>
              <a:spcAft>
                <a:spcPts val="1400"/>
              </a:spcAft>
            </a:pPr>
            <a:r>
              <a:rPr sz="1400" b="0"/>
              <a:t>Asks, People-focused</a:t>
            </a:r>
          </a:p>
          <a:p>
            <a:pPr>
              <a:spcAft>
                <a:spcPts val="200"/>
              </a:spcAft>
            </a:pPr>
            <a:r>
              <a:rPr sz="1600" b="1"/>
              <a:t>Expressive</a:t>
            </a:r>
          </a:p>
          <a:p>
            <a:pPr>
              <a:spcAft>
                <a:spcPts val="1400"/>
              </a:spcAft>
            </a:pPr>
            <a:r>
              <a:rPr sz="1400" b="0"/>
              <a:t>Tells, People-focused</a:t>
            </a:r>
          </a:p>
        </p:txBody>
      </p:sp>
      <p:sp>
        <p:nvSpPr>
          <p:cNvPr id="3" name="Content Placeholder 2"/>
          <p:cNvSpPr>
            <a:spLocks noGrp="1"/>
          </p:cNvSpPr>
          <p:nvPr>
            <p:ph idx="18"/>
          </p:nvPr>
        </p:nvSpPr>
        <p:spPr/>
        <p:txBody>
          <a:bodyPr/>
          <a:lstStyle/>
          <a:p>
            <a:pPr>
              <a:spcAft>
                <a:spcPts val="200"/>
              </a:spcAft>
            </a:pPr>
            <a:r>
              <a:rPr sz="1600" b="1"/>
              <a:t>Driver</a:t>
            </a:r>
          </a:p>
          <a:p>
            <a:pPr>
              <a:spcAft>
                <a:spcPts val="1400"/>
              </a:spcAft>
            </a:pPr>
            <a:r>
              <a:rPr sz="1400" b="0"/>
              <a:t>Tells, Task-focused</a:t>
            </a:r>
          </a:p>
          <a:p>
            <a:pPr>
              <a:spcAft>
                <a:spcPts val="200"/>
              </a:spcAft>
            </a:pPr>
            <a:r>
              <a:rPr sz="1600" b="1"/>
              <a:t>Analytical</a:t>
            </a:r>
          </a:p>
          <a:p>
            <a:pPr>
              <a:spcAft>
                <a:spcPts val="1400"/>
              </a:spcAft>
            </a:pPr>
            <a:r>
              <a:rPr sz="1400" b="0"/>
              <a:t>Asks, Task-focused</a:t>
            </a:r>
          </a:p>
        </p:txBody>
      </p:sp>
      <p:sp>
        <p:nvSpPr>
          <p:cNvPr id="4" name="Text Placeholder 3"/>
          <p:cNvSpPr>
            <a:spLocks noGrp="1"/>
          </p:cNvSpPr>
          <p:nvPr>
            <p:ph type="body" idx="16" sz="quarter"/>
          </p:nvPr>
        </p:nvSpPr>
        <p:spPr/>
        <p:txBody>
          <a:bodyPr/>
          <a:lstStyle/>
          <a:p>
            <a:r>
              <a:rPr sz="1400"/>
              <a:t>One grid. Four quadrants. Your job is to place the buyer before the pitch begins.</a:t>
            </a:r>
          </a:p>
        </p:txBody>
      </p:sp>
      <p:sp>
        <p:nvSpPr>
          <p:cNvPr id="5" name="Title 4"/>
          <p:cNvSpPr>
            <a:spLocks noGrp="1"/>
          </p:cNvSpPr>
          <p:nvPr>
            <p:ph type="title"/>
          </p:nvPr>
        </p:nvSpPr>
        <p:spPr/>
        <p:txBody>
          <a:bodyPr/>
          <a:lstStyle/>
          <a:p>
            <a:r>
              <a:t>The Four Styles on the Grid</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Do they tend to tell or ask?</a:t>
            </a:r>
          </a:p>
        </p:txBody>
      </p:sp>
      <p:sp>
        <p:nvSpPr>
          <p:cNvPr id="3" name="Content Placeholder 2"/>
          <p:cNvSpPr>
            <a:spLocks noGrp="1"/>
          </p:cNvSpPr>
          <p:nvPr>
            <p:ph idx="20"/>
          </p:nvPr>
        </p:nvSpPr>
        <p:spPr/>
        <p:txBody>
          <a:bodyPr/>
          <a:lstStyle/>
          <a:p>
            <a:pPr>
              <a:spcAft>
                <a:spcPts val="200"/>
              </a:spcAft>
            </a:pPr>
            <a:r>
              <a:rPr sz="1600" b="1"/>
              <a:t>Name the quadrant out loud to your instructor and they will confirm or redirect you.</a:t>
            </a:r>
          </a:p>
        </p:txBody>
      </p:sp>
      <p:sp>
        <p:nvSpPr>
          <p:cNvPr id="4" name="Content Placeholder 3"/>
          <p:cNvSpPr>
            <a:spLocks noGrp="1"/>
          </p:cNvSpPr>
          <p:nvPr>
            <p:ph idx="21"/>
          </p:nvPr>
        </p:nvSpPr>
        <p:spPr/>
        <p:txBody>
          <a:bodyPr/>
          <a:lstStyle/>
          <a:p>
            <a:pPr>
              <a:spcAft>
                <a:spcPts val="200"/>
              </a:spcAft>
            </a:pPr>
            <a:r>
              <a:rPr sz="1600" b="1"/>
              <a:t>Are they focused on tasks or people?</a:t>
            </a:r>
          </a:p>
        </p:txBody>
      </p:sp>
      <p:sp>
        <p:nvSpPr>
          <p:cNvPr id="5" name="Text Placeholder 4"/>
          <p:cNvSpPr>
            <a:spLocks noGrp="1"/>
          </p:cNvSpPr>
          <p:nvPr>
            <p:ph type="body" idx="16" sz="quarter"/>
          </p:nvPr>
        </p:nvSpPr>
        <p:spPr/>
        <p:txBody>
          <a:bodyPr/>
          <a:lstStyle/>
          <a:p>
            <a:r>
              <a:rPr sz="1400"/>
              <a:t>Think of someone you know well — a colleague, a manager, a customer.</a:t>
            </a:r>
          </a:p>
        </p:txBody>
      </p:sp>
      <p:sp>
        <p:nvSpPr>
          <p:cNvPr id="6" name="Title 5"/>
          <p:cNvSpPr>
            <a:spLocks noGrp="1"/>
          </p:cNvSpPr>
          <p:nvPr>
            <p:ph type="title"/>
          </p:nvPr>
        </p:nvSpPr>
        <p:spPr/>
        <p:txBody>
          <a:bodyPr/>
          <a:lstStyle/>
          <a:p>
            <a:r>
              <a:t>Quick Sort — Let's Practice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Does this person tell or ask?</a:t>
            </a:r>
          </a:p>
        </p:txBody>
      </p:sp>
      <p:sp>
        <p:nvSpPr>
          <p:cNvPr id="3" name="Content Placeholder 2"/>
          <p:cNvSpPr>
            <a:spLocks noGrp="1"/>
          </p:cNvSpPr>
          <p:nvPr>
            <p:ph idx="20"/>
          </p:nvPr>
        </p:nvSpPr>
        <p:spPr/>
        <p:txBody>
          <a:bodyPr/>
          <a:lstStyle/>
          <a:p>
            <a:pPr>
              <a:spcAft>
                <a:spcPts val="200"/>
              </a:spcAft>
            </a:pPr>
            <a:r>
              <a:rPr sz="1600" b="1"/>
              <a:t>What do they seem to focus on — results, data, relationships, or vision?</a:t>
            </a:r>
          </a:p>
        </p:txBody>
      </p:sp>
      <p:sp>
        <p:nvSpPr>
          <p:cNvPr id="4" name="Content Placeholder 3"/>
          <p:cNvSpPr>
            <a:spLocks noGrp="1"/>
          </p:cNvSpPr>
          <p:nvPr>
            <p:ph idx="21"/>
          </p:nvPr>
        </p:nvSpPr>
        <p:spPr/>
        <p:txBody>
          <a:bodyPr/>
          <a:lstStyle/>
          <a:p>
            <a:pPr>
              <a:spcAft>
                <a:spcPts val="200"/>
              </a:spcAft>
            </a:pPr>
            <a:r>
              <a:rPr sz="1600" b="1"/>
              <a:t>How much emotion do they show — low and controlled, or high and animated?</a:t>
            </a:r>
          </a:p>
        </p:txBody>
      </p:sp>
      <p:sp>
        <p:nvSpPr>
          <p:cNvPr id="5" name="Text Placeholder 4"/>
          <p:cNvSpPr>
            <a:spLocks noGrp="1"/>
          </p:cNvSpPr>
          <p:nvPr>
            <p:ph type="body" idx="16" sz="quarter"/>
          </p:nvPr>
        </p:nvSpPr>
        <p:spPr/>
        <p:txBody>
          <a:bodyPr/>
          <a:lstStyle/>
          <a:p>
            <a:r>
              <a:rPr sz="1400"/>
              <a:t>Those three answers will point you to a style almost every time.</a:t>
            </a:r>
          </a:p>
        </p:txBody>
      </p:sp>
      <p:sp>
        <p:nvSpPr>
          <p:cNvPr id="6" name="Title 5"/>
          <p:cNvSpPr>
            <a:spLocks noGrp="1"/>
          </p:cNvSpPr>
          <p:nvPr>
            <p:ph type="title"/>
          </p:nvPr>
        </p:nvSpPr>
        <p:spPr/>
        <p:txBody>
          <a:bodyPr/>
          <a:lstStyle/>
          <a:p>
            <a:r>
              <a:t>Three Questions That Reveal Style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Analytical</a:t>
            </a:r>
          </a:p>
          <a:p>
            <a:pPr>
              <a:spcAft>
                <a:spcPts val="1400"/>
              </a:spcAft>
            </a:pPr>
            <a:r>
              <a:rPr sz="1400" b="0"/>
              <a:t>Asks many questions, methodical, low emotion, focused on data and accuracy, hates being caught unprepared.</a:t>
            </a:r>
          </a:p>
        </p:txBody>
      </p:sp>
      <p:sp>
        <p:nvSpPr>
          <p:cNvPr id="3" name="Content Placeholder 2"/>
          <p:cNvSpPr>
            <a:spLocks noGrp="1"/>
          </p:cNvSpPr>
          <p:nvPr>
            <p:ph idx="18"/>
          </p:nvPr>
        </p:nvSpPr>
        <p:spPr/>
        <p:txBody>
          <a:bodyPr/>
          <a:lstStyle/>
          <a:p>
            <a:pPr>
              <a:spcAft>
                <a:spcPts val="200"/>
              </a:spcAft>
            </a:pPr>
            <a:r>
              <a:rPr sz="1600" b="1"/>
              <a:t>Driver</a:t>
            </a:r>
          </a:p>
          <a:p>
            <a:pPr>
              <a:spcAft>
                <a:spcPts val="1400"/>
              </a:spcAft>
            </a:pPr>
            <a:r>
              <a:rPr sz="1400" b="0"/>
              <a:t>Gives direction, decides fast, low emotion, focused on speed and outcomes.</a:t>
            </a:r>
          </a:p>
        </p:txBody>
      </p:sp>
      <p:sp>
        <p:nvSpPr>
          <p:cNvPr id="4" name="Text Placeholder 3"/>
          <p:cNvSpPr>
            <a:spLocks noGrp="1"/>
          </p:cNvSpPr>
          <p:nvPr>
            <p:ph type="body" idx="16" sz="quarter"/>
          </p:nvPr>
        </p:nvSpPr>
        <p:spPr/>
        <p:txBody>
          <a:bodyPr/>
          <a:lstStyle/>
          <a:p>
            <a:r>
              <a:rPr sz="1400"/>
              <a:t>Both styles run low on visible emotion — the task focus is what separates them.</a:t>
            </a:r>
          </a:p>
        </p:txBody>
      </p:sp>
      <p:sp>
        <p:nvSpPr>
          <p:cNvPr id="5" name="Title 4"/>
          <p:cNvSpPr>
            <a:spLocks noGrp="1"/>
          </p:cNvSpPr>
          <p:nvPr>
            <p:ph type="title"/>
          </p:nvPr>
        </p:nvSpPr>
        <p:spPr/>
        <p:txBody>
          <a:bodyPr/>
          <a:lstStyle/>
          <a:p>
            <a:r>
              <a:t>Driver and Analytical — What to Watch For</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Amiable</a:t>
            </a:r>
          </a:p>
          <a:p>
            <a:pPr>
              <a:spcAft>
                <a:spcPts val="1400"/>
              </a:spcAft>
            </a:pPr>
            <a:r>
              <a:rPr sz="1400" b="0"/>
              <a:t>Soft-spoken, warm, high emotion, focused on consensus and relationships, avoids conflict and rushed decisions.</a:t>
            </a:r>
          </a:p>
        </p:txBody>
      </p:sp>
      <p:sp>
        <p:nvSpPr>
          <p:cNvPr id="3" name="Content Placeholder 2"/>
          <p:cNvSpPr>
            <a:spLocks noGrp="1"/>
          </p:cNvSpPr>
          <p:nvPr>
            <p:ph idx="18"/>
          </p:nvPr>
        </p:nvSpPr>
        <p:spPr/>
        <p:txBody>
          <a:bodyPr/>
          <a:lstStyle/>
          <a:p>
            <a:pPr>
              <a:spcAft>
                <a:spcPts val="200"/>
              </a:spcAft>
            </a:pPr>
            <a:r>
              <a:rPr sz="1600" b="1"/>
              <a:t>Expressive</a:t>
            </a:r>
          </a:p>
          <a:p>
            <a:pPr>
              <a:spcAft>
                <a:spcPts val="1400"/>
              </a:spcAft>
            </a:pPr>
            <a:r>
              <a:rPr sz="1400" b="0"/>
              <a:t>Animated, storytelling, high emotion, focused on vision and big possibilities, wants to be heard.</a:t>
            </a:r>
          </a:p>
        </p:txBody>
      </p:sp>
      <p:sp>
        <p:nvSpPr>
          <p:cNvPr id="4" name="Text Placeholder 3"/>
          <p:cNvSpPr>
            <a:spLocks noGrp="1"/>
          </p:cNvSpPr>
          <p:nvPr>
            <p:ph type="body" idx="16" sz="quarter"/>
          </p:nvPr>
        </p:nvSpPr>
        <p:spPr/>
        <p:txBody>
          <a:bodyPr/>
          <a:lstStyle/>
          <a:p>
            <a:r>
              <a:rPr sz="1400"/>
              <a:t>Both styles run high on emotion — the tell vs. ask instinct is what separates them.</a:t>
            </a:r>
          </a:p>
        </p:txBody>
      </p:sp>
      <p:sp>
        <p:nvSpPr>
          <p:cNvPr id="5" name="Title 4"/>
          <p:cNvSpPr>
            <a:spLocks noGrp="1"/>
          </p:cNvSpPr>
          <p:nvPr>
            <p:ph type="title"/>
          </p:nvPr>
        </p:nvSpPr>
        <p:spPr/>
        <p:txBody>
          <a:bodyPr/>
          <a:lstStyle/>
          <a:p>
            <a:r>
              <a:t>Expressive and Amiable — What to Watch For</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Amiable asks "Why?"</a:t>
            </a:r>
          </a:p>
          <a:p>
            <a:pPr>
              <a:spcAft>
                <a:spcPts val="1400"/>
              </a:spcAft>
            </a:pPr>
            <a:r>
              <a:rPr sz="1400" b="0"/>
              <a:t>Focused on relationships and fit.</a:t>
            </a:r>
          </a:p>
          <a:p>
            <a:pPr>
              <a:spcAft>
                <a:spcPts val="200"/>
              </a:spcAft>
            </a:pPr>
            <a:r>
              <a:rPr sz="1600" b="1"/>
              <a:t>Expressive asks "Who?"</a:t>
            </a:r>
          </a:p>
          <a:p>
            <a:pPr>
              <a:spcAft>
                <a:spcPts val="1400"/>
              </a:spcAft>
            </a:pPr>
            <a:r>
              <a:rPr sz="1400" b="0"/>
              <a:t>Focused on people and vision.</a:t>
            </a:r>
          </a:p>
        </p:txBody>
      </p:sp>
      <p:sp>
        <p:nvSpPr>
          <p:cNvPr id="3" name="Content Placeholder 2"/>
          <p:cNvSpPr>
            <a:spLocks noGrp="1"/>
          </p:cNvSpPr>
          <p:nvPr>
            <p:ph idx="18"/>
          </p:nvPr>
        </p:nvSpPr>
        <p:spPr/>
        <p:txBody>
          <a:bodyPr/>
          <a:lstStyle/>
          <a:p>
            <a:pPr>
              <a:spcAft>
                <a:spcPts val="200"/>
              </a:spcAft>
            </a:pPr>
            <a:r>
              <a:rPr sz="1600" b="1"/>
              <a:t>Driver asks "What?"</a:t>
            </a:r>
          </a:p>
          <a:p>
            <a:pPr>
              <a:spcAft>
                <a:spcPts val="1400"/>
              </a:spcAft>
            </a:pPr>
            <a:r>
              <a:rPr sz="1400" b="0"/>
              <a:t>Focused on results.</a:t>
            </a:r>
          </a:p>
          <a:p>
            <a:pPr>
              <a:spcAft>
                <a:spcPts val="200"/>
              </a:spcAft>
            </a:pPr>
            <a:r>
              <a:rPr sz="1600" b="1"/>
              <a:t>Analytical asks "How?"</a:t>
            </a:r>
          </a:p>
          <a:p>
            <a:pPr>
              <a:spcAft>
                <a:spcPts val="1400"/>
              </a:spcAft>
            </a:pPr>
            <a:r>
              <a:rPr sz="1400" b="0"/>
              <a:t>Focused on process and accuracy.</a:t>
            </a:r>
          </a:p>
        </p:txBody>
      </p:sp>
      <p:sp>
        <p:nvSpPr>
          <p:cNvPr id="4" name="Text Placeholder 3"/>
          <p:cNvSpPr>
            <a:spLocks noGrp="1"/>
          </p:cNvSpPr>
          <p:nvPr>
            <p:ph type="body" idx="16" sz="quarter"/>
          </p:nvPr>
        </p:nvSpPr>
        <p:spPr/>
        <p:txBody>
          <a:bodyPr/>
          <a:lstStyle/>
          <a:p>
            <a:r>
              <a:rPr sz="1400"/>
              <a:t>Hear one of these in the first minutes of a meeting and you have a strong style signal.</a:t>
            </a:r>
          </a:p>
        </p:txBody>
      </p:sp>
      <p:sp>
        <p:nvSpPr>
          <p:cNvPr id="5" name="Title 4"/>
          <p:cNvSpPr>
            <a:spLocks noGrp="1"/>
          </p:cNvSpPr>
          <p:nvPr>
            <p:ph type="title"/>
          </p:nvPr>
        </p:nvSpPr>
        <p:spPr/>
        <p:txBody>
          <a:bodyPr/>
          <a:lstStyle/>
          <a:p>
            <a:r>
              <a:t>The Signature Question — Your Live Diagnostic Signal</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Expressive</a:t>
            </a:r>
          </a:p>
          <a:p>
            <a:pPr>
              <a:spcAft>
                <a:spcPts val="1400"/>
              </a:spcAft>
            </a:pPr>
            <a:r>
              <a:rPr sz="1400" b="0"/>
              <a:t>Becomes argumentative.</a:t>
            </a:r>
          </a:p>
          <a:p>
            <a:pPr>
              <a:spcAft>
                <a:spcPts val="200"/>
              </a:spcAft>
            </a:pPr>
            <a:r>
              <a:rPr sz="1600" b="1"/>
              <a:t>Amiable</a:t>
            </a:r>
          </a:p>
          <a:p>
            <a:pPr>
              <a:spcAft>
                <a:spcPts val="1400"/>
              </a:spcAft>
            </a:pPr>
            <a:r>
              <a:rPr sz="1400" b="0"/>
              <a:t>Goes quiet and withdraws.</a:t>
            </a:r>
          </a:p>
        </p:txBody>
      </p:sp>
      <p:sp>
        <p:nvSpPr>
          <p:cNvPr id="3" name="Content Placeholder 2"/>
          <p:cNvSpPr>
            <a:spLocks noGrp="1"/>
          </p:cNvSpPr>
          <p:nvPr>
            <p:ph idx="18"/>
          </p:nvPr>
        </p:nvSpPr>
        <p:spPr/>
        <p:txBody>
          <a:bodyPr/>
          <a:lstStyle/>
          <a:p>
            <a:pPr>
              <a:spcAft>
                <a:spcPts val="200"/>
              </a:spcAft>
            </a:pPr>
            <a:r>
              <a:rPr sz="1600" b="1"/>
              <a:t>Driver</a:t>
            </a:r>
          </a:p>
          <a:p>
            <a:pPr>
              <a:spcAft>
                <a:spcPts val="1400"/>
              </a:spcAft>
            </a:pPr>
            <a:r>
              <a:rPr sz="1400" b="0"/>
              <a:t>Takes control of the meeting.</a:t>
            </a:r>
          </a:p>
          <a:p>
            <a:pPr>
              <a:spcAft>
                <a:spcPts val="200"/>
              </a:spcAft>
            </a:pPr>
            <a:r>
              <a:rPr sz="1600" b="1"/>
              <a:t>Analytical</a:t>
            </a:r>
          </a:p>
          <a:p>
            <a:pPr>
              <a:spcAft>
                <a:spcPts val="1400"/>
              </a:spcAft>
            </a:pPr>
            <a:r>
              <a:rPr sz="1400" b="0"/>
              <a:t>Asks for more time and more data.</a:t>
            </a:r>
          </a:p>
        </p:txBody>
      </p:sp>
      <p:sp>
        <p:nvSpPr>
          <p:cNvPr id="4" name="Text Placeholder 3"/>
          <p:cNvSpPr>
            <a:spLocks noGrp="1"/>
          </p:cNvSpPr>
          <p:nvPr>
            <p:ph type="body" idx="16" sz="quarter"/>
          </p:nvPr>
        </p:nvSpPr>
        <p:spPr/>
        <p:txBody>
          <a:bodyPr/>
          <a:lstStyle/>
          <a:p>
            <a:r>
              <a:rPr sz="1400"/>
              <a:t>A pressure behavior means something has broken down — it is a signal to slow down and shift.</a:t>
            </a:r>
          </a:p>
        </p:txBody>
      </p:sp>
      <p:sp>
        <p:nvSpPr>
          <p:cNvPr id="5" name="Title 4"/>
          <p:cNvSpPr>
            <a:spLocks noGrp="1"/>
          </p:cNvSpPr>
          <p:nvPr>
            <p:ph type="title"/>
          </p:nvPr>
        </p:nvSpPr>
        <p:spPr/>
        <p:txBody>
          <a:bodyPr/>
          <a:lstStyle/>
          <a:p>
            <a:r>
              <a:t>Pressure Behaviors — When the Conversation Goes Off Track</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Analytical with an Amiable adjacent</a:t>
            </a:r>
          </a:p>
          <a:p>
            <a:pPr>
              <a:spcAft>
                <a:spcPts val="1400"/>
              </a:spcAft>
            </a:pPr>
            <a:r>
              <a:rPr sz="1400" b="0"/>
              <a:t>Will be methodical but more relationship-conscious.</a:t>
            </a:r>
          </a:p>
        </p:txBody>
      </p:sp>
      <p:sp>
        <p:nvSpPr>
          <p:cNvPr id="3" name="Content Placeholder 2"/>
          <p:cNvSpPr>
            <a:spLocks noGrp="1"/>
          </p:cNvSpPr>
          <p:nvPr>
            <p:ph idx="18"/>
          </p:nvPr>
        </p:nvSpPr>
        <p:spPr/>
        <p:txBody>
          <a:bodyPr/>
          <a:lstStyle/>
          <a:p>
            <a:pPr>
              <a:spcAft>
                <a:spcPts val="200"/>
              </a:spcAft>
            </a:pPr>
            <a:r>
              <a:rPr sz="1600" b="1"/>
              <a:t>Driver with an Expressive adjacent</a:t>
            </a:r>
          </a:p>
          <a:p>
            <a:pPr>
              <a:spcAft>
                <a:spcPts val="1400"/>
              </a:spcAft>
            </a:pPr>
            <a:r>
              <a:rPr sz="1400" b="0"/>
              <a:t>Will be direct but warmer than a pure Driver.</a:t>
            </a:r>
          </a:p>
        </p:txBody>
      </p:sp>
      <p:sp>
        <p:nvSpPr>
          <p:cNvPr id="4" name="Text Placeholder 3"/>
          <p:cNvSpPr>
            <a:spLocks noGrp="1"/>
          </p:cNvSpPr>
          <p:nvPr>
            <p:ph type="body" idx="16" sz="quarter"/>
          </p:nvPr>
        </p:nvSpPr>
        <p:spPr/>
        <p:txBody>
          <a:bodyPr/>
          <a:lstStyle/>
          <a:p>
            <a:r>
              <a:rPr sz="1400"/>
              <a:t>If a buyer does not feel like a clean fit, look one quadrant over — that is your answer.</a:t>
            </a:r>
          </a:p>
        </p:txBody>
      </p:sp>
      <p:sp>
        <p:nvSpPr>
          <p:cNvPr id="5" name="Title 4"/>
          <p:cNvSpPr>
            <a:spLocks noGrp="1"/>
          </p:cNvSpPr>
          <p:nvPr>
            <p:ph type="title"/>
          </p:nvPr>
        </p:nvSpPr>
        <p:spPr/>
        <p:txBody>
          <a:bodyPr/>
          <a:lstStyle/>
          <a:p>
            <a:r>
              <a:t>Mixed Signals? Blame the Adjacent Style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Map a Real Prospect — Activity</a:t>
            </a:r>
          </a:p>
          <a:p>
            <a:r>
              <a:rPr sz="1400" b="0"/>
              <a:t>Think of a current prospect or a recent customer. How did they speak?
What did they ask?
How much emotion did they show? Tell your instructor — describe what you observed out loud, and ask them to help you map that person to a style and identify their likely signature question.</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Plan for less time than you were given.</a:t>
            </a:r>
          </a:p>
          <a:p>
            <a:pPr>
              <a:spcAft>
                <a:spcPts val="1400"/>
              </a:spcAft>
            </a:pPr>
            <a:r>
              <a:rPr sz="2000"/>
              <a:t>Lead with conclusions and results — save the data as backup.</a:t>
            </a:r>
          </a:p>
          <a:p>
            <a:pPr>
              <a:spcAft>
                <a:spcPts val="1400"/>
              </a:spcAft>
            </a:pPr>
            <a:r>
              <a:rPr sz="2000"/>
              <a:t>Offer clear options and end with specific, actionable next steps.</a:t>
            </a:r>
          </a:p>
          <a:p>
            <a:pPr>
              <a:spcAft>
                <a:spcPts val="1400"/>
              </a:spcAft>
            </a:pPr>
            <a:r>
              <a:rPr sz="2000"/>
              <a:t>Small talk and unnecessary detail damage rapport fast.</a:t>
            </a:r>
          </a:p>
        </p:txBody>
      </p:sp>
      <p:sp>
        <p:nvSpPr>
          <p:cNvPr id="3" name="Title 2"/>
          <p:cNvSpPr>
            <a:spLocks noGrp="1"/>
          </p:cNvSpPr>
          <p:nvPr>
            <p:ph type="title"/>
          </p:nvPr>
        </p:nvSpPr>
        <p:spPr/>
        <p:txBody>
          <a:bodyPr/>
          <a:lstStyle/>
          <a:p>
            <a:r>
              <a:t>Selling to a Driver</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Prepare detailed, logical questions and use evidence throughout.</a:t>
            </a:r>
          </a:p>
          <a:p>
            <a:pPr>
              <a:spcAft>
                <a:spcPts val="1400"/>
              </a:spcAft>
            </a:pPr>
            <a:r>
              <a:rPr sz="2000"/>
              <a:t>Use Guided Discovery to surface risks of the status quo and competitive alternatives.</a:t>
            </a:r>
          </a:p>
          <a:p>
            <a:pPr>
              <a:spcAft>
                <a:spcPts val="1400"/>
              </a:spcAft>
            </a:pPr>
            <a:r>
              <a:rPr sz="2000"/>
              <a:t>Allow time for evaluation — never rush, never get too personal.</a:t>
            </a:r>
          </a:p>
          <a:p>
            <a:pPr>
              <a:spcAft>
                <a:spcPts val="1400"/>
              </a:spcAft>
            </a:pPr>
            <a:r>
              <a:rPr sz="2000"/>
              <a:t>Justify your process by referencing accuracy and completeness.</a:t>
            </a:r>
          </a:p>
        </p:txBody>
      </p:sp>
      <p:sp>
        <p:nvSpPr>
          <p:cNvPr id="3" name="Title 2"/>
          <p:cNvSpPr>
            <a:spLocks noGrp="1"/>
          </p:cNvSpPr>
          <p:nvPr>
            <p:ph type="title"/>
          </p:nvPr>
        </p:nvSpPr>
        <p:spPr/>
        <p:txBody>
          <a:bodyPr/>
          <a:lstStyle/>
          <a:p>
            <a:r>
              <a:t>Selling to an Analytical</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Focus discovery on their perspectives, dreams, and ambitions.</a:t>
            </a:r>
          </a:p>
          <a:p>
            <a:pPr>
              <a:spcAft>
                <a:spcPts val="1400"/>
              </a:spcAft>
            </a:pPr>
            <a:r>
              <a:rPr sz="2000"/>
              <a:t>Use curiosity questions and let them elaborate fully.</a:t>
            </a:r>
          </a:p>
          <a:p>
            <a:pPr>
              <a:spcAft>
                <a:spcPts val="1400"/>
              </a:spcAft>
            </a:pPr>
            <a:r>
              <a:rPr sz="2000"/>
              <a:t>Show enthusiasm and demonstrate understanding with active listening and non-verbal cues.</a:t>
            </a:r>
          </a:p>
          <a:p>
            <a:pPr>
              <a:spcAft>
                <a:spcPts val="1400"/>
              </a:spcAft>
            </a:pPr>
            <a:r>
              <a:rPr sz="2000"/>
              <a:t>Ask who else should be involved — minimize detail-heavy conversations.</a:t>
            </a:r>
          </a:p>
        </p:txBody>
      </p:sp>
      <p:sp>
        <p:nvSpPr>
          <p:cNvPr id="3" name="Title 2"/>
          <p:cNvSpPr>
            <a:spLocks noGrp="1"/>
          </p:cNvSpPr>
          <p:nvPr>
            <p:ph type="title"/>
          </p:nvPr>
        </p:nvSpPr>
        <p:spPr/>
        <p:txBody>
          <a:bodyPr/>
          <a:lstStyle/>
          <a:p>
            <a:r>
              <a:t>Selling to an Expressive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Spend real time on rapport before you talk business.</a:t>
            </a:r>
          </a:p>
          <a:p>
            <a:pPr>
              <a:spcAft>
                <a:spcPts val="1400"/>
              </a:spcAft>
            </a:pPr>
            <a:r>
              <a:rPr sz="2000"/>
              <a:t>Explain how you got to this meeting and who introduced you.</a:t>
            </a:r>
          </a:p>
          <a:p>
            <a:pPr>
              <a:spcAft>
                <a:spcPts val="1400"/>
              </a:spcAft>
            </a:pPr>
            <a:r>
              <a:rPr sz="2000"/>
              <a:t>Use "we" language throughout — present verbally and offer detailed follow-up documents.</a:t>
            </a:r>
          </a:p>
          <a:p>
            <a:pPr>
              <a:spcAft>
                <a:spcPts val="1400"/>
              </a:spcAft>
            </a:pPr>
            <a:r>
              <a:rPr sz="2000"/>
              <a:t>Never push or rush a decision. Position yourself as a stable, friendly resource.</a:t>
            </a:r>
          </a:p>
        </p:txBody>
      </p:sp>
      <p:sp>
        <p:nvSpPr>
          <p:cNvPr id="3" name="Title 2"/>
          <p:cNvSpPr>
            <a:spLocks noGrp="1"/>
          </p:cNvSpPr>
          <p:nvPr>
            <p:ph type="title"/>
          </p:nvPr>
        </p:nvSpPr>
        <p:spPr/>
        <p:txBody>
          <a:bodyPr/>
          <a:lstStyle/>
          <a:p>
            <a:r>
              <a:t>Selling to an Amiable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Your Own Style Is Part of the Equation</a:t>
            </a:r>
          </a:p>
          <a:p>
            <a:r>
              <a:rPr sz="1400" b="0"/>
              <a:t>How you naturally sell may land very differently on a buyer of another style.
A high-Tell, low-emotion Driver rep can shut down an Amiable buyer before the conversation starts — without realizing it.
Awareness of your own defaults is the first step to adjusting them.</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Choose a style you want to practice selling to.</a:t>
            </a:r>
          </a:p>
        </p:txBody>
      </p:sp>
      <p:sp>
        <p:nvSpPr>
          <p:cNvPr id="3" name="Content Placeholder 2"/>
          <p:cNvSpPr>
            <a:spLocks noGrp="1"/>
          </p:cNvSpPr>
          <p:nvPr>
            <p:ph idx="20"/>
          </p:nvPr>
        </p:nvSpPr>
        <p:spPr/>
        <p:txBody>
          <a:bodyPr/>
          <a:lstStyle/>
          <a:p>
            <a:pPr>
              <a:spcAft>
                <a:spcPts val="200"/>
              </a:spcAft>
            </a:pPr>
            <a:r>
              <a:rPr sz="1600" b="1"/>
              <a:t>Respond with the right style-matched tactics</a:t>
            </a:r>
          </a:p>
          <a:p>
            <a:pPr>
              <a:spcAft>
                <a:spcPts val="1400"/>
              </a:spcAft>
            </a:pPr>
            <a:r>
              <a:rPr sz="1400" b="0"/>
              <a:t>Then ask your instructor for feedback on what landed and what to adjust.</a:t>
            </a:r>
          </a:p>
        </p:txBody>
      </p:sp>
      <p:sp>
        <p:nvSpPr>
          <p:cNvPr id="4" name="Content Placeholder 3"/>
          <p:cNvSpPr>
            <a:spLocks noGrp="1"/>
          </p:cNvSpPr>
          <p:nvPr>
            <p:ph idx="21"/>
          </p:nvPr>
        </p:nvSpPr>
        <p:spPr/>
        <p:txBody>
          <a:bodyPr/>
          <a:lstStyle/>
          <a:p>
            <a:pPr>
              <a:spcAft>
                <a:spcPts val="200"/>
              </a:spcAft>
            </a:pPr>
            <a:r>
              <a:rPr sz="1600" b="1"/>
              <a:t>Ask your instructor to play that buyer</a:t>
            </a:r>
          </a:p>
          <a:p>
            <a:pPr>
              <a:spcAft>
                <a:spcPts val="1400"/>
              </a:spcAft>
            </a:pPr>
            <a:r>
              <a:rPr sz="1400" b="0"/>
              <a:t>They will open with the signature question, show the typical cues, and eventually trigger a mild pressure behavior.</a:t>
            </a:r>
          </a:p>
        </p:txBody>
      </p:sp>
      <p:sp>
        <p:nvSpPr>
          <p:cNvPr id="6" name="Title 5"/>
          <p:cNvSpPr>
            <a:spLocks noGrp="1"/>
          </p:cNvSpPr>
          <p:nvPr>
            <p:ph type="title"/>
          </p:nvPr>
        </p:nvSpPr>
        <p:spPr/>
        <p:txBody>
          <a:bodyPr/>
          <a:lstStyle/>
          <a:p>
            <a:r>
              <a:t>Role-Play — Practice the Tactics Live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What Versatility Actually Means</a:t>
            </a:r>
          </a:p>
          <a:p>
            <a:r>
              <a:rPr sz="1400" b="0"/>
              <a:t>Versatility is the deliberate act of adjusting your communication approach to reduce friction and connect more effectively.
It is not about becoming someone you are not — it is about removing barriers in the relationship.
Reps with high versatility earn trusted advisor status because buyers feel understood regardless of style.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Catching it early</a:t>
            </a:r>
          </a:p>
          <a:p>
            <a:pPr>
              <a:spcAft>
                <a:spcPts val="1600"/>
              </a:spcAft>
            </a:pPr>
            <a:r>
              <a:rPr sz="1400" b="0"/>
              <a:t>Lets you shift before rapport is damaged.</a:t>
            </a:r>
          </a:p>
          <a:p>
            <a:pPr>
              <a:spcAft>
                <a:spcPts val="200"/>
              </a:spcAft>
            </a:pPr>
            <a:r>
              <a:rPr sz="2000" b="1"/>
              <a:t>Catching it late</a:t>
            </a:r>
          </a:p>
          <a:p>
            <a:pPr>
              <a:spcAft>
                <a:spcPts val="1600"/>
              </a:spcAft>
            </a:pPr>
            <a:r>
              <a:rPr sz="1400" b="0"/>
              <a:t>Means rebuilding trust you did not need to lose.</a:t>
            </a:r>
          </a:p>
        </p:txBody>
      </p:sp>
      <p:sp>
        <p:nvSpPr>
          <p:cNvPr id="3" name="Text Placeholder 2"/>
          <p:cNvSpPr>
            <a:spLocks noGrp="1"/>
          </p:cNvSpPr>
          <p:nvPr>
            <p:ph type="body" idx="15" sz="quarter"/>
          </p:nvPr>
        </p:nvSpPr>
        <p:spPr/>
        <p:txBody>
          <a:bodyPr/>
          <a:lstStyle/>
          <a:p>
            <a:r>
              <a:t>A pressure behavior or a sudden drop in engagement is your early warning signal.</a:t>
            </a:r>
          </a:p>
        </p:txBody>
      </p:sp>
      <p:sp>
        <p:nvSpPr>
          <p:cNvPr id="5" name="Title 4"/>
          <p:cNvSpPr>
            <a:spLocks noGrp="1"/>
          </p:cNvSpPr>
          <p:nvPr>
            <p:ph type="title"/>
          </p:nvPr>
        </p:nvSpPr>
        <p:spPr/>
        <p:txBody>
          <a:bodyPr/>
          <a:lstStyle/>
          <a:p>
            <a:r>
              <a:t>Spotting a Mismatch Early</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Versatility Is a Discipline, Not a Trait</a:t>
            </a:r>
          </a:p>
          <a:p>
            <a:r>
              <a:rPr sz="1400" b="0"/>
              <a:t>You do not need a different personality for each buyer.
You need one disciplined habit: read the cues, name the style, adjust the approach.
Style is the vehicle — the destination is always the same: a meaningful, trusted relationship that leads to a sale.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Tell your instructor what you believe your dominant Social Style is.</a:t>
            </a:r>
          </a:p>
        </p:txBody>
      </p:sp>
      <p:sp>
        <p:nvSpPr>
          <p:cNvPr id="3" name="Content Placeholder 2"/>
          <p:cNvSpPr>
            <a:spLocks noGrp="1"/>
          </p:cNvSpPr>
          <p:nvPr>
            <p:ph idx="20"/>
          </p:nvPr>
        </p:nvSpPr>
        <p:spPr/>
        <p:txBody>
          <a:bodyPr/>
          <a:lstStyle/>
          <a:p>
            <a:pPr>
              <a:spcAft>
                <a:spcPts val="200"/>
              </a:spcAft>
            </a:pPr>
            <a:r>
              <a:rPr sz="1600" b="1"/>
              <a:t>Ask your instructor to explain what that style mismatch looks like from the buyer's side and what one specific adjustment you can make in your very next meeting.</a:t>
            </a:r>
          </a:p>
        </p:txBody>
      </p:sp>
      <p:sp>
        <p:nvSpPr>
          <p:cNvPr id="4" name="Content Placeholder 3"/>
          <p:cNvSpPr>
            <a:spLocks noGrp="1"/>
          </p:cNvSpPr>
          <p:nvPr>
            <p:ph idx="21"/>
          </p:nvPr>
        </p:nvSpPr>
        <p:spPr/>
        <p:txBody>
          <a:bodyPr/>
          <a:lstStyle/>
          <a:p>
            <a:pPr>
              <a:spcAft>
                <a:spcPts val="200"/>
              </a:spcAft>
            </a:pPr>
            <a:r>
              <a:rPr sz="1600" b="1"/>
              <a:t>Describe one type of buyer you find it hardest to connect with.</a:t>
            </a:r>
          </a:p>
        </p:txBody>
      </p:sp>
      <p:sp>
        <p:nvSpPr>
          <p:cNvPr id="6" name="Title 5"/>
          <p:cNvSpPr>
            <a:spLocks noGrp="1"/>
          </p:cNvSpPr>
          <p:nvPr>
            <p:ph type="title"/>
          </p:nvPr>
        </p:nvSpPr>
        <p:spPr/>
        <p:txBody>
          <a:bodyPr/>
          <a:lstStyle/>
          <a:p>
            <a:r>
              <a:t>Know Your Own Style — Final Activity</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Knowledge Check</a:t>
            </a:r>
          </a:p>
          <a:p>
            <a:r>
              <a:rPr sz="1400" b="0"/>
              <a:t>A brief private quiz is available to reinforce the four styles, signature questions, pressure behaviors, and selling tactics.
Nothing is recorded. It is for your own confidence.
Ask your instructor how to access it when you are ready.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Now Have the Framework — Use It in Your Next Call</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